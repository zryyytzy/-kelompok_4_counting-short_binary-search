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ID" sz="1400" b="0" i="0" u="none" strike="noStrike" dirty="0">
                <a:solidFill>
                  <a:srgbClr val="000000"/>
                </a:solidFill>
                <a:latin typeface="Arial"/>
              </a:rPr>
              <a:t>Waktu </a:t>
            </a:r>
            <a:r>
              <a:rPr lang="en-ID" sz="1400" b="0" i="0" u="none" strike="noStrike" dirty="0" err="1">
                <a:solidFill>
                  <a:srgbClr val="000000"/>
                </a:solidFill>
                <a:latin typeface="Arial"/>
              </a:rPr>
              <a:t>Eksekusi</a:t>
            </a:r>
            <a:r>
              <a:rPr lang="en-ID" sz="1400" b="0" i="0" u="none" strike="noStrike" dirty="0">
                <a:solidFill>
                  <a:srgbClr val="000000"/>
                </a:solidFill>
                <a:latin typeface="Arial"/>
              </a:rPr>
              <a:t>: Counting Sort vs Bubble Sort (</a:t>
            </a:r>
            <a:r>
              <a:rPr lang="en-ID" sz="1400" b="0" i="0" u="none" strike="noStrike" dirty="0" err="1">
                <a:solidFill>
                  <a:srgbClr val="000000"/>
                </a:solidFill>
                <a:latin typeface="Arial"/>
              </a:rPr>
              <a:t>ms</a:t>
            </a:r>
            <a:r>
              <a:rPr lang="en-ID" sz="1400" b="0" i="0" u="none" strike="noStrike" dirty="0">
                <a:solidFill>
                  <a:srgbClr val="000000"/>
                </a:solidFill>
                <a:latin typeface="Arial"/>
              </a:rPr>
              <a:t>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Counting Sort (ms)</c:v>
                </c:pt>
              </c:strCache>
            </c:strRef>
          </c:tx>
          <c:spPr>
            <a:solidFill>
              <a:srgbClr val="1E408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100</c:v>
                </c:pt>
                <c:pt idx="1">
                  <c:v>500</c:v>
                </c:pt>
                <c:pt idx="2">
                  <c:v>1.000</c:v>
                </c:pt>
                <c:pt idx="3">
                  <c:v>5.000</c:v>
                </c:pt>
                <c:pt idx="4">
                  <c:v>10.000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CE8-4599-92CE-2B418ED7414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Bubble Sort (ms)</c:v>
                </c:pt>
              </c:strCache>
            </c:strRef>
          </c:tx>
          <c:spPr>
            <a:solidFill>
              <a:srgbClr val="E74C3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100</c:v>
                </c:pt>
                <c:pt idx="1">
                  <c:v>500</c:v>
                </c:pt>
                <c:pt idx="2">
                  <c:v>1.000</c:v>
                </c:pt>
                <c:pt idx="3">
                  <c:v>5.000</c:v>
                </c:pt>
                <c:pt idx="4">
                  <c:v>10.000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11</c:v>
                </c:pt>
                <c:pt idx="3">
                  <c:v>280</c:v>
                </c:pt>
                <c:pt idx="4">
                  <c:v>1124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CE8-4599-92CE-2B418ED7414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D6D7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D6D7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4F6F8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it-IT" sz="1100" b="0" i="0" u="none" strike="noStrike">
                <a:solidFill>
                  <a:srgbClr val="000000"/>
                </a:solidFill>
                <a:latin typeface="Arial"/>
              </a:rPr>
              <a:t>Jumlah Operasi per Kondisi Data (n = 1.000)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Counting Sort (operasi)</c:v>
                </c:pt>
              </c:strCache>
            </c:strRef>
          </c:tx>
          <c:spPr>
            <a:solidFill>
              <a:srgbClr val="1E4080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Acak</c:v>
                </c:pt>
                <c:pt idx="1">
                  <c:v>Terurut</c:v>
                </c:pt>
                <c:pt idx="2">
                  <c:v>Terbalik</c:v>
                </c:pt>
                <c:pt idx="3">
                  <c:v>Duplikat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2050</c:v>
                </c:pt>
                <c:pt idx="1">
                  <c:v>2000</c:v>
                </c:pt>
                <c:pt idx="2">
                  <c:v>2000</c:v>
                </c:pt>
                <c:pt idx="3">
                  <c:v>1530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591-43B3-8582-78ECBE81DD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Bubble Sort (operasi)</c:v>
                </c:pt>
              </c:strCache>
            </c:strRef>
          </c:tx>
          <c:spPr>
            <a:solidFill>
              <a:srgbClr val="E74C3C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Acak</c:v>
                </c:pt>
                <c:pt idx="1">
                  <c:v>Terurut</c:v>
                </c:pt>
                <c:pt idx="2">
                  <c:v>Terbalik</c:v>
                </c:pt>
                <c:pt idx="3">
                  <c:v>Duplikat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499500</c:v>
                </c:pt>
                <c:pt idx="1">
                  <c:v>0</c:v>
                </c:pt>
                <c:pt idx="2">
                  <c:v>499500</c:v>
                </c:pt>
                <c:pt idx="3">
                  <c:v>245000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591-43B3-8582-78ECBE81DD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D6D7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D6D7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4F6F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1536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6700" y="692658"/>
            <a:ext cx="8420100" cy="1770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IMPLEMENTASI TEKNIK SORTING DAN SEARCHING LANJUTAN MENGGUNAKAN TEKNIK COUNTING SORT &amp; BINARY SEARCH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266700" y="4084320"/>
            <a:ext cx="45796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Dosen Pengampu: Ali Akbar Lubis, S.Kom., M.TI.</a:t>
            </a:r>
          </a:p>
          <a:p>
            <a:pPr marL="0" indent="0">
              <a:buNone/>
            </a:pPr>
            <a:r>
              <a:rPr lang="en-US" sz="17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Mata Kuliah: </a:t>
            </a:r>
            <a:r>
              <a:rPr lang="en-US" sz="1700" dirty="0" err="1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</a:t>
            </a:r>
            <a:r>
              <a:rPr lang="en-US" sz="17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66700" y="3325368"/>
            <a:ext cx="5829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Giovani Fernando </a:t>
            </a:r>
            <a:r>
              <a:rPr lang="en-US" sz="1600" dirty="0" err="1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Perdamean</a:t>
            </a:r>
            <a:r>
              <a:rPr lang="en-US" sz="16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Hutagalung (5253151037)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</a:t>
            </a:r>
            <a:r>
              <a:rPr lang="en-US" sz="1600" dirty="0" err="1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Fazry</a:t>
            </a:r>
            <a:r>
              <a:rPr lang="en-US" sz="16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Chandra (5253151050)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Jonatan </a:t>
            </a:r>
            <a:r>
              <a:rPr lang="en-US" sz="1600" dirty="0" err="1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Marganda</a:t>
            </a:r>
            <a:r>
              <a:rPr lang="en-US" sz="16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Parulian</a:t>
            </a:r>
            <a:r>
              <a:rPr lang="en-US" sz="16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Manullang</a:t>
            </a:r>
            <a:r>
              <a:rPr lang="en-US" sz="16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(5253151059)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C8E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Universitas Negeri Medan  ·  2026</a:t>
            </a:r>
            <a:endParaRPr lang="en-US" sz="15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C11A8CF1-F9B1-E0DF-F24B-9A821314FADC}"/>
              </a:ext>
            </a:extLst>
          </p:cNvPr>
          <p:cNvSpPr/>
          <p:nvPr/>
        </p:nvSpPr>
        <p:spPr>
          <a:xfrm>
            <a:off x="220980" y="2967990"/>
            <a:ext cx="2933700" cy="67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 err="1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</a:t>
            </a:r>
            <a:r>
              <a:rPr lang="en-US" sz="2000" b="1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 PTIK D 2025</a:t>
            </a:r>
            <a:endParaRPr lang="en-US" sz="2000" dirty="0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A7C336FC-0416-43EF-F207-0B49F6C6C71F}"/>
              </a:ext>
            </a:extLst>
          </p:cNvPr>
          <p:cNvSpPr/>
          <p:nvPr/>
        </p:nvSpPr>
        <p:spPr>
          <a:xfrm flipH="1" flipV="1">
            <a:off x="220980" y="257556"/>
            <a:ext cx="45719" cy="458266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0" cy="51435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" y="3657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BAHAN PRESENTASI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502920" cy="502920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05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06984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0040" y="1783080"/>
            <a:ext cx="502920" cy="502920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184708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Landasan Teori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0040" y="2560320"/>
            <a:ext cx="502920" cy="502920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262432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&amp; Implementasi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20040" y="3337560"/>
            <a:ext cx="502920" cy="502920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3337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" y="34015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Eksperimen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20040" y="4114800"/>
            <a:ext cx="502920" cy="502920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4114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41788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 &amp; Saran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200400" y="4572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&amp; Searching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Lanjutan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3200400" y="1645920"/>
            <a:ext cx="5486400" cy="8686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0" y="1645920"/>
            <a:ext cx="73152" cy="868680"/>
          </a:xfrm>
          <a:prstGeom prst="rect">
            <a:avLst/>
          </a:prstGeom>
          <a:solidFill>
            <a:srgbClr val="1E4080"/>
          </a:solidFill>
          <a:ln w="12700">
            <a:solidFill>
              <a:srgbClr val="1E40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0" y="1719072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Sort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383280" y="207568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 + k) — linear time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200400" y="2651760"/>
            <a:ext cx="5486400" cy="8686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00400" y="2651760"/>
            <a:ext cx="73152" cy="86868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2724912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Search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383280" y="30815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O(log n) — logaritmik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00400" y="3657600"/>
            <a:ext cx="5486400" cy="8686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0" y="3657600"/>
            <a:ext cx="73152" cy="868680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0" y="3730752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383280" y="408736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Bubble Sort O(n²)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|  LATAR BELAKANG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834640" cy="4023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2834640" cy="502920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96112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84048" y="1444752"/>
            <a:ext cx="2615184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 dasar (Bubble Sort, Insertion Sort, Selection Sort) memiliki kompleksitas O(n²) — sangat lambat untuk data besar. Pada 10.000 elemen, Bubble Sort butuh hingga 100 juta operasi.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246120" y="868680"/>
            <a:ext cx="2834640" cy="4023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868680"/>
            <a:ext cx="2834640" cy="50292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896112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355848" y="1444752"/>
            <a:ext cx="2615184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Sort mencapai O(n + k) dan Binary Search O(log n). Pada 10.000 elemen, Binary Search hanya memerlukan 14 langkah — jauh lebih efisien.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868680"/>
            <a:ext cx="2834640" cy="4023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7920" y="868680"/>
            <a:ext cx="2834640" cy="5029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896112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 Kasus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27648" y="1444752"/>
            <a:ext cx="2615184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nilai ujian mahasiswa (0–100) — rentang integer terbatas, ideal untuk Counting Sort. Setelah diurutkan, Binary Search dapat menemukan nilai target secara cepat.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|  COUNTING SORT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 Non-Comparison Based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118872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Dikembangkan oleh Harold H. Seward (1954). Tidak membandingkan elemen secara langsung, melainkan mencacah frekuensi nilai.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502920" cy="502920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0116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Phase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22860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Hitung frekuensi setiap nilai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dalam array count[]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2926080"/>
            <a:ext cx="502920" cy="502920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926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05840" y="29260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Sum Phase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05840" y="32004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Akumulasi count[] menjadi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sum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65760" y="3840480"/>
            <a:ext cx="502920" cy="502920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05840" y="3840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Phase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05840" y="41148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Tempatkan elemen ke posisi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benar (dari kanan)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754880" y="777240"/>
            <a:ext cx="4114800" cy="21031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8229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Kompleksitas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846320" y="12344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(Best/Avg/Worst)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 + k)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846320" y="161848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Ruang (Space)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315200" y="161848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 + k)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46320" y="200253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Kestabilan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315200" y="200253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Sort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846320" y="2386584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Prasyarat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315200" y="238658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≥ 0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754880" y="3017520"/>
            <a:ext cx="4114800" cy="19202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30632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Keunggulan &amp; Keterbatasan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892040" y="3456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Melampaui batas O(n log n)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892040" y="382219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Sangat efisien untuk nilai ujian (0–100)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892040" y="418795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Hanya untuk integer non-negatif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892040" y="455371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Boros memori jika k sangat besar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|  BINARY SEARCH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and Conquer — O(log n)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713232" cy="502920"/>
          </a:xfrm>
          <a:prstGeom prst="rect">
            <a:avLst/>
          </a:prstGeom>
          <a:solidFill>
            <a:srgbClr val="F4F6F8"/>
          </a:solidFill>
          <a:ln w="12700">
            <a:solidFill>
              <a:srgbClr val="AABB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280160"/>
            <a:ext cx="7132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4A"/>
                </a:solidFill>
              </a:rPr>
              <a:t>10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5568" y="1280160"/>
            <a:ext cx="713232" cy="502920"/>
          </a:xfrm>
          <a:prstGeom prst="rect">
            <a:avLst/>
          </a:prstGeom>
          <a:solidFill>
            <a:srgbClr val="F4F6F8"/>
          </a:solidFill>
          <a:ln w="12700">
            <a:solidFill>
              <a:srgbClr val="AABB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1280160"/>
            <a:ext cx="7132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4A"/>
                </a:solidFill>
              </a:rPr>
              <a:t>20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865376" y="1280160"/>
            <a:ext cx="713232" cy="502920"/>
          </a:xfrm>
          <a:prstGeom prst="rect">
            <a:avLst/>
          </a:prstGeom>
          <a:solidFill>
            <a:srgbClr val="F4F6F8"/>
          </a:solidFill>
          <a:ln w="12700">
            <a:solidFill>
              <a:srgbClr val="AABB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65376" y="1280160"/>
            <a:ext cx="7132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4A"/>
                </a:solidFill>
              </a:rPr>
              <a:t>30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615184" y="1280160"/>
            <a:ext cx="713232" cy="502920"/>
          </a:xfrm>
          <a:prstGeom prst="rect">
            <a:avLst/>
          </a:prstGeom>
          <a:solidFill>
            <a:srgbClr val="F4F6F8"/>
          </a:solidFill>
          <a:ln w="12700">
            <a:solidFill>
              <a:srgbClr val="AABB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15184" y="1280160"/>
            <a:ext cx="7132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4A"/>
                </a:solidFill>
              </a:rPr>
              <a:t>40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64992" y="1280160"/>
            <a:ext cx="713232" cy="502920"/>
          </a:xfrm>
          <a:prstGeom prst="rect">
            <a:avLst/>
          </a:prstGeom>
          <a:solidFill>
            <a:srgbClr val="E8F4F8"/>
          </a:solidFill>
          <a:ln w="12700">
            <a:solidFill>
              <a:srgbClr val="AABB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4992" y="1280160"/>
            <a:ext cx="7132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4A"/>
                </a:solidFill>
              </a:rPr>
              <a:t>50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0" y="1280160"/>
            <a:ext cx="713232" cy="502920"/>
          </a:xfrm>
          <a:prstGeom prst="rect">
            <a:avLst/>
          </a:prstGeom>
          <a:solidFill>
            <a:srgbClr val="E8F4F8"/>
          </a:solidFill>
          <a:ln w="12700">
            <a:solidFill>
              <a:srgbClr val="AABB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0" y="1280160"/>
            <a:ext cx="7132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4A"/>
                </a:solidFill>
              </a:rPr>
              <a:t>60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64608" y="1280160"/>
            <a:ext cx="713232" cy="502920"/>
          </a:xfrm>
          <a:prstGeom prst="rect">
            <a:avLst/>
          </a:prstGeom>
          <a:solidFill>
            <a:srgbClr val="1A7A4A"/>
          </a:solidFill>
          <a:ln w="12700">
            <a:solidFill>
              <a:srgbClr val="AABB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64608" y="1280160"/>
            <a:ext cx="7132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70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14416" y="1280160"/>
            <a:ext cx="713232" cy="502920"/>
          </a:xfrm>
          <a:prstGeom prst="rect">
            <a:avLst/>
          </a:prstGeom>
          <a:solidFill>
            <a:srgbClr val="E8F4F8"/>
          </a:solidFill>
          <a:ln w="12700">
            <a:solidFill>
              <a:srgbClr val="AABB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14416" y="1280160"/>
            <a:ext cx="7132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4A"/>
                </a:solidFill>
              </a:rPr>
              <a:t>80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64224" y="1280160"/>
            <a:ext cx="713232" cy="502920"/>
          </a:xfrm>
          <a:prstGeom prst="rect">
            <a:avLst/>
          </a:prstGeom>
          <a:solidFill>
            <a:srgbClr val="F4F6F8"/>
          </a:solidFill>
          <a:ln w="12700">
            <a:solidFill>
              <a:srgbClr val="AABBC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64224" y="1280160"/>
            <a:ext cx="7132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4A"/>
                </a:solidFill>
              </a:rPr>
              <a:t>90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114032" y="1280160"/>
            <a:ext cx="713232" cy="502920"/>
          </a:xfrm>
          <a:prstGeom prst="rect">
            <a:avLst/>
          </a:prstGeom>
          <a:solidFill>
            <a:srgbClr val="F4F6F8"/>
          </a:solidFill>
          <a:ln w="12700">
            <a:solidFill>
              <a:srgbClr val="AABBC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14032" y="1280160"/>
            <a:ext cx="7132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4A"/>
                </a:solidFill>
              </a:rPr>
              <a:t>100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1783080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D7E"/>
                </a:solidFill>
              </a:rPr>
              <a:t>[0]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15568" y="1783080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D7E"/>
                </a:solidFill>
              </a:rPr>
              <a:t>[1]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865376" y="1783080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D7E"/>
                </a:solidFill>
              </a:rPr>
              <a:t>[2]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615184" y="1783080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D7E"/>
                </a:solidFill>
              </a:rPr>
              <a:t>[3]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364992" y="1783080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D7E"/>
                </a:solidFill>
              </a:rPr>
              <a:t>[4]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114800" y="1783080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D7E"/>
                </a:solidFill>
              </a:rPr>
              <a:t>[5]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64608" y="1783080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D7E"/>
                </a:solidFill>
              </a:rPr>
              <a:t>[6]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614416" y="1783080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D7E"/>
                </a:solidFill>
              </a:rPr>
              <a:t>[7]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64224" y="1783080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D7E"/>
                </a:solidFill>
              </a:rPr>
              <a:t>[8]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114032" y="1783080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D7E"/>
                </a:solidFill>
              </a:rPr>
              <a:t>[9]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65760" y="20497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Mencari nilai 70: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2322576"/>
            <a:ext cx="320040" cy="320040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23088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77240" y="2340864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mid=4 (50) → terlalu kecil, geser kiri ke 5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365760" y="2788920"/>
            <a:ext cx="320040" cy="320040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2788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777240" y="28072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mid=7 (80) → terlalu besar, geser kanan ke 6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365760" y="3429000"/>
            <a:ext cx="320040" cy="320040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4290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777240" y="344728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mid=5 (60) → terlalu kecil, geser kiri ke 6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365760" y="4069080"/>
            <a:ext cx="320040" cy="320040"/>
          </a:xfrm>
          <a:prstGeom prst="ellipse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69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777240" y="40873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mid=6 (70) → DITEMUKAN! ✓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4846320" y="2011680"/>
            <a:ext cx="4023360" cy="23774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4937760" y="2066544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Efisiensi Binary vs Linear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4937760" y="245059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59436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Search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7315200" y="245059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Search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4937760" y="274320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100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5943600" y="274320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6FF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langkah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7315200" y="274320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9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langkah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4937760" y="3136392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1.000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5943600" y="313639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6FF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langkah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7315200" y="313639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9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langkah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4937760" y="3529584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10.000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5943600" y="3529584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6FF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langkah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7315200" y="352958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9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 langkah</a:t>
            </a:r>
            <a:endParaRPr lang="en-US" sz="1500" dirty="0"/>
          </a:p>
        </p:txBody>
      </p:sp>
      <p:sp>
        <p:nvSpPr>
          <p:cNvPr id="62" name="Text 60"/>
          <p:cNvSpPr/>
          <p:nvPr/>
        </p:nvSpPr>
        <p:spPr>
          <a:xfrm>
            <a:off x="4937760" y="3922776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1.000.000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5943600" y="3922776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6FF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langkah</a:t>
            </a:r>
            <a:endParaRPr lang="en-US" sz="1500" dirty="0"/>
          </a:p>
        </p:txBody>
      </p:sp>
      <p:sp>
        <p:nvSpPr>
          <p:cNvPr id="64" name="Text 62"/>
          <p:cNvSpPr/>
          <p:nvPr/>
        </p:nvSpPr>
        <p:spPr>
          <a:xfrm>
            <a:off x="7315200" y="3922776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9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1.000.000 langkah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|  PERBANDINGAN KOMPLEKSITAS ALGORITMA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088401"/>
              </p:ext>
            </p:extLst>
          </p:nvPr>
        </p:nvGraphicFramePr>
        <p:xfrm>
          <a:off x="365760" y="822960"/>
          <a:ext cx="8412480" cy="27432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Algoritma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Case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Case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Space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E40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Counting Sort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E40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+ k)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E40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+ k)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E40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+ k)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E40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+ k)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Bubble Sort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D35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D35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Sort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 Sort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D35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Search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3703320"/>
            <a:ext cx="8412480" cy="1234440"/>
          </a:xfrm>
          <a:prstGeom prst="rect">
            <a:avLst/>
          </a:prstGeom>
          <a:solidFill>
            <a:srgbClr val="EAF4FB"/>
          </a:solidFill>
          <a:ln w="12700">
            <a:solidFill>
              <a:srgbClr val="A9CC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3703320"/>
            <a:ext cx="73152" cy="123444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4" name="Text 4"/>
          <p:cNvSpPr/>
          <p:nvPr/>
        </p:nvSpPr>
        <p:spPr>
          <a:xfrm>
            <a:off x="548640" y="37490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 </a:t>
            </a:r>
            <a:r>
              <a:rPr lang="en-US" sz="1500" b="1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Perbandingan</a:t>
            </a:r>
            <a:r>
              <a:rPr lang="en-US" sz="15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4058412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u="sng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Sort melampaui batas teoritis O(n log n) untuk comparison-based sorting dengan mencapai O(n + k) — linear time. Ketika k=100 (nilai ujian), ini berarti ~O(n), jauh lebih cepat dari Bubble Sort O(n²). Perbedaan menjadi dramatis pada n ≥ 10.000.</a:t>
            </a:r>
            <a:endParaRPr lang="en-US" sz="1500" u="sng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|  DESAIN &amp; IMPLEMENTASI PROGRAM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65760" y="7696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Modular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2834640" cy="16459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188720"/>
            <a:ext cx="2834640" cy="38404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07008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main.cpp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1627632"/>
            <a:ext cx="2615184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Interface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navigasi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&amp; CSV export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parsing &amp; data acak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00400" y="1188720"/>
            <a:ext cx="2834640" cy="16459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188720"/>
            <a:ext cx="2834640" cy="38404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1207008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sorting.h/cpp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310128" y="1627632"/>
            <a:ext cx="2615184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Sort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(nilai integer)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Bubble Sort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(integer &amp; string)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834640" cy="16459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834640" cy="38404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1207008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searching.h/cpp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236208" y="1627632"/>
            <a:ext cx="2615184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Search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(nilai siswa)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Pencarian string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berbasis abjad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118104" y="2011680"/>
            <a:ext cx="82296" cy="0"/>
          </a:xfrm>
          <a:prstGeom prst="line">
            <a:avLst/>
          </a:prstGeom>
          <a:noFill/>
          <a:ln w="25400">
            <a:solidFill>
              <a:srgbClr val="2E86C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44184" y="2011680"/>
            <a:ext cx="82296" cy="0"/>
          </a:xfrm>
          <a:prstGeom prst="line">
            <a:avLst/>
          </a:prstGeom>
          <a:noFill/>
          <a:ln w="25400">
            <a:solidFill>
              <a:srgbClr val="2E86C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926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Data yang Digunakan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274320" y="3337560"/>
            <a:ext cx="4206240" cy="685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" y="3337560"/>
            <a:ext cx="64008" cy="6858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" y="33832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std::vector&lt;int&gt;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38912" y="368503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 dinamis untuk data integer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709160" y="3337560"/>
            <a:ext cx="4206240" cy="685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09160" y="3337560"/>
            <a:ext cx="64008" cy="6858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73752" y="33832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 Siswa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873752" y="368503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Record: {string nama, int nilai}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274320" y="4114800"/>
            <a:ext cx="4206240" cy="685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4114800"/>
            <a:ext cx="64008" cy="6858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8912" y="4160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vector&lt;vector&lt;Siswa&gt;&gt;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38912" y="446227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vector — bucket Counting Sort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709160" y="4114800"/>
            <a:ext cx="4206240" cy="685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09160" y="4114800"/>
            <a:ext cx="64008" cy="6858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73752" y="4160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std::vector&lt;string&gt;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873752" y="446227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data teks untuk Bubble Sort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|  HASIL EKSPERIMEN — BENCHMARK</a:t>
            </a:r>
            <a:endParaRPr lang="en-US" sz="27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1029604358"/>
              </p:ext>
            </p:extLst>
          </p:nvPr>
        </p:nvGraphicFramePr>
        <p:xfrm>
          <a:off x="274320" y="777240"/>
          <a:ext cx="530352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760720" y="8229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Kunci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760720" y="1243584"/>
            <a:ext cx="3200400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280160"/>
            <a:ext cx="64008" cy="109728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29884" y="126187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500×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943600" y="182880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lebih cepat pada n=10.000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943600" y="2084832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ms vs 1.124 ms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760720" y="2514600"/>
            <a:ext cx="3200400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760720" y="2514600"/>
            <a:ext cx="64008" cy="1097280"/>
          </a:xfrm>
          <a:prstGeom prst="rect">
            <a:avLst/>
          </a:prstGeom>
          <a:solidFill>
            <a:srgbClr val="1E4080"/>
          </a:solidFill>
          <a:ln w="12700">
            <a:solidFill>
              <a:srgbClr val="1E40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29884" y="24993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4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O(n+k)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5943600" y="306324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kompleksitas Counting Sort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943600" y="3319272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konsisten semua kondisi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760720" y="3749040"/>
            <a:ext cx="3200400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760720" y="3749040"/>
            <a:ext cx="64008" cy="109728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29884" y="3712464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step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943600" y="429768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Search, n=10.000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4553712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10.000 pada Linear Search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|  ANALISIS BERDASARKAN KONDISI DATA</a:t>
            </a:r>
            <a:endParaRPr lang="en-US" sz="27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2344989854"/>
              </p:ext>
            </p:extLst>
          </p:nvPr>
        </p:nvGraphicFramePr>
        <p:xfrm>
          <a:off x="274320" y="777240"/>
          <a:ext cx="530352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760720" y="7772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per Kondisi (n = 1.000)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760720" y="1188720"/>
            <a:ext cx="3200400" cy="8686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760720" y="1188720"/>
            <a:ext cx="64008" cy="868680"/>
          </a:xfrm>
          <a:prstGeom prst="rect">
            <a:avLst/>
          </a:prstGeom>
          <a:solidFill>
            <a:srgbClr val="1E4080"/>
          </a:solidFill>
          <a:ln w="12700">
            <a:solidFill>
              <a:srgbClr val="1E408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0" y="122529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Terurut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943600" y="1467612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CS: 2.000 op   BS: 0 op*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943600" y="1719072"/>
            <a:ext cx="2926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*Bubble Sort 0 swap, tapi tetap O(n²) perbandingan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760720" y="2148840"/>
            <a:ext cx="3200400" cy="8686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760720" y="2148840"/>
            <a:ext cx="64008" cy="868680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0" y="218541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Terbalik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5943600" y="241858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CS: 2.000 op   BS: 499.500 op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943600" y="2679192"/>
            <a:ext cx="2926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Worst-case Bubble Sort — 2248 ms pada n=10.000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760720" y="3108960"/>
            <a:ext cx="3200400" cy="8686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760720" y="3108960"/>
            <a:ext cx="64008" cy="86868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43600" y="314553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Banyak Duplikat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943600" y="3410712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CS: 1.530 op   BS: 245.000 op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3662172"/>
            <a:ext cx="2926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Sort lebih cepat — count array menjadi dense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760720" y="4069080"/>
            <a:ext cx="3200400" cy="8686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760720" y="4069080"/>
            <a:ext cx="64008" cy="86868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43600" y="410565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Acak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5943600" y="4370832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CS: 2.050 op   BS: 499.500 op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943600" y="4599432"/>
            <a:ext cx="2926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Tipikal kondisi dunia nyata — CS unggul 244×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57200" y="4332732"/>
            <a:ext cx="5120640" cy="594360"/>
          </a:xfrm>
          <a:prstGeom prst="rect">
            <a:avLst/>
          </a:prstGeom>
          <a:solidFill>
            <a:srgbClr val="EAF4FB"/>
          </a:solidFill>
          <a:ln w="12700">
            <a:solidFill>
              <a:srgbClr val="A9CCE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74320" y="4343400"/>
            <a:ext cx="64008" cy="594360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7200" y="438912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Sort konsisten ~2.000 operasi di semua kondisi, sementara Bubble Sort bervariasi dari 0 (terurut) hingga 499.500 (terbalik). Sifat non-comparison based menjadi keunggulan utamanya.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|  KESIMPULAN &amp; SARAN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937760" cy="2743200"/>
          </a:xfrm>
          <a:prstGeom prst="rect">
            <a:avLst/>
          </a:prstGeom>
          <a:solidFill>
            <a:srgbClr val="213B5E"/>
          </a:solidFill>
          <a:ln w="12700">
            <a:solidFill>
              <a:srgbClr val="2E527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11480" y="1207008"/>
            <a:ext cx="201168" cy="201168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161288"/>
            <a:ext cx="4434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Sort 500× lebih cepat dari Bubble Sort pada n=10.000 (2ms vs 1.124ms)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1664208"/>
            <a:ext cx="201168" cy="201168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618488"/>
            <a:ext cx="4434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Kompleksitas O(n+k) mendekati O(n) untuk nilai ujian (k=100)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2121408"/>
            <a:ext cx="201168" cy="201168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075688"/>
            <a:ext cx="4434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Search: maks 14 langkah untuk n=10.000 (vs 10.000 pada Linear)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2578608"/>
            <a:ext cx="201168" cy="201168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532888"/>
            <a:ext cx="4434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Sort tidak optimal untuk data float, string, atau k sangat besar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" y="3035808"/>
            <a:ext cx="201168" cy="201168"/>
          </a:xfrm>
          <a:prstGeom prst="ellipse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990088"/>
            <a:ext cx="4434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modular meningkatkan keterbacaan &amp; skalabilitas kode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303520" y="731520"/>
            <a:ext cx="3657600" cy="2743200"/>
          </a:xfrm>
          <a:prstGeom prst="rect">
            <a:avLst/>
          </a:prstGeom>
          <a:solidFill>
            <a:srgbClr val="213B5E"/>
          </a:solidFill>
          <a:ln w="12700">
            <a:solidFill>
              <a:srgbClr val="2E527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77724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Saran Pengembangan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0" y="1207008"/>
            <a:ext cx="201168" cy="20116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79008" y="1161288"/>
            <a:ext cx="30906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 dukungan nilai negatif dengan normalisasi offset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0" y="1664208"/>
            <a:ext cx="201168" cy="20116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79008" y="1618488"/>
            <a:ext cx="30906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trace step-by-step untuk n ≤ 20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0" y="2121408"/>
            <a:ext cx="201168" cy="20116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9008" y="2075688"/>
            <a:ext cx="30906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Terapkan pada sistem informasi akademik nyata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0" y="2578608"/>
            <a:ext cx="201168" cy="20116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79008" y="2532888"/>
            <a:ext cx="30906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Bandingkan juga dengan Merge Sort &amp; Quick Sort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0" y="3035808"/>
            <a:ext cx="201168" cy="20116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79008" y="2990088"/>
            <a:ext cx="30906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Pasangkan Binary Search dengan sorting efisien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74320" y="3611880"/>
            <a:ext cx="8686800" cy="123444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3657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Sort + Binary Search = Kombinasi ideal untuk sistem pengurutan dan pencarian data nilai akademik yang efisien, cepat, dan dapat diskalakan.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3200400" y="2084832"/>
            <a:ext cx="2743200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240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4  —  PTIK D 2025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1143</Words>
  <Application>Microsoft Office PowerPoint</Application>
  <PresentationFormat>On-screen Show (16:9)</PresentationFormat>
  <Paragraphs>224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Implementasi Teknik Sorting dan Searching Lanjutan</dc:title>
  <dc:subject>PptxGenJS Presentation</dc:subject>
  <dc:creator>Giovani Hutagalung</dc:creator>
  <cp:keywords>Giovani Hutagalung</cp:keywords>
  <cp:lastModifiedBy>Giovani Hutagalung</cp:lastModifiedBy>
  <cp:revision>2</cp:revision>
  <dcterms:created xsi:type="dcterms:W3CDTF">2026-06-03T17:25:48Z</dcterms:created>
  <dcterms:modified xsi:type="dcterms:W3CDTF">2026-06-03T17:49:11Z</dcterms:modified>
</cp:coreProperties>
</file>