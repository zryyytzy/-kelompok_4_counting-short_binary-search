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Lora" pitchFamily="2" charset="0"/>
      <p:regular r:id="rId16"/>
    </p:embeddedFont>
    <p:embeddedFont>
      <p:font typeface="Source Sans 3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55452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Implementasi Teknik Sorting dan Searching Lanjutan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934691"/>
            <a:ext cx="8096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Counting Sort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dan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Binary Search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Kelompok 4 PTIK D 2025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2749972"/>
            <a:ext cx="8096845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Giovani Fernando Perdamean Hutagalung — 5253151037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Muhammad Fazry Chandra — 5253151050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Jonatan Marganda Parulian Manullang — 5253151059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3577" y="3741018"/>
            <a:ext cx="8096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Dosen: Ali Akbar Lubis, S.Kom., M.TI. · Mata Kuliah: Struktur Data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 Studi Pendidikan TIK · Fakultas Teknik · Universitas Negeri Medan ·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87167" y="506239"/>
            <a:ext cx="1187648" cy="235446"/>
          </a:xfrm>
          <a:prstGeom prst="roundRect">
            <a:avLst>
              <a:gd name="adj" fmla="val 6672"/>
            </a:avLst>
          </a:prstGeom>
          <a:solidFill>
            <a:srgbClr val="49042A"/>
          </a:solidFill>
          <a:ln/>
        </p:spPr>
      </p:sp>
      <p:sp>
        <p:nvSpPr>
          <p:cNvPr id="4" name="Text 1"/>
          <p:cNvSpPr/>
          <p:nvPr/>
        </p:nvSpPr>
        <p:spPr>
          <a:xfrm>
            <a:off x="3965674" y="545455"/>
            <a:ext cx="1487835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BAB I — PENDAHULUAN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887167" y="787450"/>
            <a:ext cx="479866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Latar Belakang &amp; Rumusan Masalah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2880" y="1729085"/>
            <a:ext cx="4812953" cy="13367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75212" y="187426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075212" y="2135460"/>
            <a:ext cx="4465439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Sorting dan Searching adalah operasi fundamental dalam ilmu komputer. Algoritma dasar seperti Bubble Sort memiliki kompleksitas </a:t>
            </a:r>
            <a:r>
              <a:rPr lang="en-US" sz="10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O(n^2)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pada 10.000 elemen, hingga </a:t>
            </a: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 juta operasi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Counting Sort mencapai </a:t>
            </a:r>
            <a:r>
              <a:rPr lang="en-US" sz="10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O(n+k)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sedangkan Binary Search hanya </a:t>
            </a:r>
            <a:r>
              <a:rPr lang="en-US" sz="10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O(\log n)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Studi kasus: data nilai ujian mahasiswa (0–100).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880" y="3180383"/>
            <a:ext cx="4812953" cy="14568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75212" y="3325564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Rumusan Masalah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075212" y="3586758"/>
            <a:ext cx="4465439" cy="905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Mekanisme Counting Sort dan Binary Search</a:t>
            </a:r>
            <a:endParaRPr lang="en-US" sz="10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Implementasi dalam C++ dengan fitur komprehensif</a:t>
            </a:r>
            <a:endParaRPr lang="en-US" sz="10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Perbandingan performa Counting Sort vs Bubble Sort</a:t>
            </a:r>
            <a:endParaRPr lang="en-US" sz="10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Kondisi optimal dan keterbatasan Counting Sort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601489"/>
            <a:ext cx="1121346" cy="281136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646361"/>
            <a:ext cx="139905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BAB I — LANJUTAN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942454"/>
            <a:ext cx="507697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Tujuan &amp; Manfaat Penelitian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756395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Tujuan Penelitian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3577" y="2125935"/>
            <a:ext cx="3865959" cy="2363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Memahami cara kerja, pseudocode, dan kompleksitas Counting Sort &amp; Binary Search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Mengimplementasikan kedua algoritma dalam C++ (input manual, acak, dan file)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Analisis eksperimental performa Counting Sort vs Bubble Sort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Menerapkan studi kasus nilai ujian mahasiswa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Menyajikan hasil dalam tabel, grafik, dan pembahasan ilmiah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9226" y="1756395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Manfaat Penelitian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59226" y="2125935"/>
            <a:ext cx="3865959" cy="207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Penulis: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Memperdalam pemahaman algoritma sorting &amp; searching lanjutan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Pembaca: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Referensi pembelajaran mata kuliah Struktur Data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Pengembang: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Panduan praktis memilih algoritma sesuai karakteristik data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Ilmu pengetahuan: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Bukti empiris keunggulan dan keterbatasan Counting Sort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167" y="359941"/>
            <a:ext cx="1304032" cy="235446"/>
          </a:xfrm>
          <a:prstGeom prst="roundRect">
            <a:avLst>
              <a:gd name="adj" fmla="val 6672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536674" y="399157"/>
            <a:ext cx="1604218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BAB II — LANDASAN TEORI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8167" y="641152"/>
            <a:ext cx="6755829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Counting Sort: Prinsip Kerja &amp; Kompleksitas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75" y="1197843"/>
            <a:ext cx="4832375" cy="2868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19193" y="3407459"/>
            <a:ext cx="1201234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Penempatan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05310" y="3407459"/>
            <a:ext cx="1201234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Akumulasi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466743" y="3407459"/>
            <a:ext cx="120123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Pencacahan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8167" y="4194721"/>
            <a:ext cx="8227665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Algoritma </a:t>
            </a: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non-comparison based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(Seward, 1954) dengan kompleksitas waktu </a:t>
            </a:r>
            <a:r>
              <a:rPr lang="en-US" sz="10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O(n+k)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dan ruang </a:t>
            </a:r>
            <a:r>
              <a:rPr lang="en-US" sz="10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O(n+k)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Bersifat </a:t>
            </a: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stable sort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karena penempatan dilakukan dari belakang. Efisien untuk data integer dengan rentang nilai terbatas, namun tidak optimal untuk rentang sangat besar atau data non-integer.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562" y="332631"/>
            <a:ext cx="882476" cy="197941"/>
          </a:xfrm>
          <a:prstGeom prst="roundRect">
            <a:avLst>
              <a:gd name="adj" fmla="val 6944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921246" y="366936"/>
            <a:ext cx="1202308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BAB II — LANJUTAN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52562" y="565621"/>
            <a:ext cx="6002015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Binary Search &amp; Perbandingan Kompleksitas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2562" y="2475384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Binary Search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2562" y="2731443"/>
            <a:ext cx="3579688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Algoritma </a:t>
            </a:r>
            <a:r>
              <a:rPr lang="en-US" sz="9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divide and conquer</a:t>
            </a: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pada data terurut. Setiap iterasi membagi ruang pencarian dua, kompleksitas </a:t>
            </a:r>
            <a:r>
              <a:rPr lang="en-US" sz="9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O(\log n)</a:t>
            </a: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Pada 10.000 elemen, maksimal </a:t>
            </a: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 langkah</a:t>
            </a: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vs Linear Search yang butuh 10.000 langkah. Ruang </a:t>
            </a:r>
            <a:r>
              <a:rPr lang="en-US" sz="9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O(1)</a:t>
            </a: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(iteratif).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363" y="1132582"/>
            <a:ext cx="3579688" cy="3579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910" y="426318"/>
            <a:ext cx="1313631" cy="257994"/>
          </a:xfrm>
          <a:prstGeom prst="roundRect">
            <a:avLst>
              <a:gd name="adj" fmla="val 6524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574997" y="468362"/>
            <a:ext cx="1602656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BAB III — IMPLEMENTASI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0910" y="736848"/>
            <a:ext cx="5914951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Arsitektur Program &amp; Struktur Data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10" y="1562621"/>
            <a:ext cx="5185618" cy="29384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3446" y="1478012"/>
            <a:ext cx="225452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Arsitektur Modular C++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23446" y="1815778"/>
            <a:ext cx="2634332" cy="1178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main.cpp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UI CLI, navigasi menu, benchmark &amp; ekspor CSV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sorting.h / .cpp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Counting Sort &amp; Bubble Sort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searching.h / .cpp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Binary Search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3446" y="3126060"/>
            <a:ext cx="21073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Struktur Data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23446" y="3463826"/>
            <a:ext cx="2634332" cy="120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array dinamis (int, string, Siswa)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Siswa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rekaman nama &amp; nilai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vector&lt;vector&lt;Siswa&gt;&gt;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nested bucket untuk kestabilan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724" y="506090"/>
            <a:ext cx="1242640" cy="252413"/>
          </a:xfrm>
          <a:prstGeom prst="roundRect">
            <a:avLst>
              <a:gd name="adj" fmla="val 6557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565472" y="547464"/>
            <a:ext cx="153434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BAB IV — PEMBAHASAN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2724" y="809327"/>
            <a:ext cx="3843784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Kasus Nyata &amp; Dataset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82724" y="1565151"/>
            <a:ext cx="305960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Studi Kasus: Nilai Ujian Mahasiswa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2724" y="1895103"/>
            <a:ext cx="264370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nilai 0–100 (k = 100) sangat ideal untuk Counting Sort: </a:t>
            </a:r>
            <a:r>
              <a:rPr lang="en-US" sz="10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O(n + 100) \approx O(n)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Binary Search menemukan target pada 1.000 mahasiswa hanya dalam </a:t>
            </a: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langkah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2724" y="2869927"/>
            <a:ext cx="20797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Tiga Dataset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2724" y="3199879"/>
            <a:ext cx="2643708" cy="136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Sintetis: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Integer acak 0–9.999, n = 100 s.d. 10.000</a:t>
            </a:r>
            <a:endParaRPr lang="en-US" sz="1050" dirty="0"/>
          </a:p>
          <a:p>
            <a:pPr marL="342900" indent="-342900" algn="l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Nilai Mahasiswa: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1.000 catatan [Nama, Nilai 0–100]</a:t>
            </a:r>
            <a:endParaRPr lang="en-US" sz="1050" dirty="0"/>
          </a:p>
          <a:p>
            <a:pPr marL="342900" indent="-342900" algn="l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String: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Daftar nama untuk Bubble Sort &amp; Binary Search teks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695" y="1548705"/>
            <a:ext cx="5198269" cy="29456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09439"/>
            <a:ext cx="1779017" cy="281136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554310"/>
            <a:ext cx="205673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BAB IV — ANALISIS EKSPERIMEN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50404"/>
            <a:ext cx="723847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Benchmark: Counting Sort vs Bubble Sort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83023"/>
            <a:ext cx="3865959" cy="2782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9226" y="1664345"/>
            <a:ext cx="353928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Temuan Utama (n = 10.000, data acak)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59226" y="2033885"/>
            <a:ext cx="3865959" cy="140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Counting Sort: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~2 ms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Bubble Sort: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~1.124 ms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Perbedaan kinerja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&gt;500×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Counting Sort konsisten di semua kondisi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Bubble Sort terburuk pada data terbalik (2.248 ms)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Kestabilan terjamin via nested vector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095" y="400869"/>
            <a:ext cx="1056382" cy="263649"/>
          </a:xfrm>
          <a:prstGeom prst="roundRect">
            <a:avLst>
              <a:gd name="adj" fmla="val 6490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584597" y="443582"/>
            <a:ext cx="1342579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BAB V — PENUTUP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9095" y="718840"/>
            <a:ext cx="3812456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Kesimpulan &amp; Saran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9095" y="1477938"/>
            <a:ext cx="21347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9095" y="1823442"/>
            <a:ext cx="3898999" cy="1256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Counting Sort </a:t>
            </a: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&gt;500×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lebih cepat dari Bubble Sort pada 10.000 elemen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Efektif untuk nilai ujian (0–100), bersifat </a:t>
            </a:r>
            <a:r>
              <a:rPr lang="en-US" sz="11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stable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Binary Search: maksimal </a:t>
            </a: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 langkah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pada n = 10.000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Kurang optimal untuk rentang besar atau data non-integer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0668" y="1477938"/>
            <a:ext cx="21347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Saran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0668" y="1823442"/>
            <a:ext cx="3898999" cy="1033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Tambahkan dukungan nilai negatif via normalisasi offset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Tambahkan fitur </a:t>
            </a:r>
            <a:r>
              <a:rPr lang="en-US" sz="11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trace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step-by-step untuk n ≤ 20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Terapkan pada sistem informasi akademik (nilai, IPK)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Bandingkan juga dengan Merge Sort &amp; Quick Sort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9095" y="3315742"/>
            <a:ext cx="8145810" cy="10641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9095" y="3565847"/>
            <a:ext cx="21347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Daftar Pustaka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9095" y="3979292"/>
            <a:ext cx="8145810" cy="763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Cormen et al. (2022). </a:t>
            </a:r>
            <a:r>
              <a:rPr lang="en-US" sz="11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Introduction to Algorithms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MIT Press.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Sedgewick &amp; Wayne (2011). </a:t>
            </a:r>
            <a:r>
              <a:rPr lang="en-US" sz="11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Algorithms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Addison-Wesley.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Knuth (2011). </a:t>
            </a:r>
            <a:r>
              <a:rPr lang="en-US" sz="11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TAOCP Vol. 3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Addison-Wesley.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750</Words>
  <Application>Microsoft Office PowerPoint</Application>
  <PresentationFormat>On-screen Show (16:9)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Lora</vt:lpstr>
      <vt:lpstr>Source Sans 3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Giovani Hutagalung</dc:creator>
  <cp:keywords>Giovani Hutagalung</cp:keywords>
  <cp:lastModifiedBy>Giovani Hutagalung</cp:lastModifiedBy>
  <cp:revision>1</cp:revision>
  <dcterms:created xsi:type="dcterms:W3CDTF">2026-06-03T13:11:19Z</dcterms:created>
  <dcterms:modified xsi:type="dcterms:W3CDTF">2026-06-03T13:16:27Z</dcterms:modified>
</cp:coreProperties>
</file>